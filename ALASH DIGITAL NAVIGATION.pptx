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ed Hat Display Bold" charset="1" panose="02010803040201060303"/>
      <p:regular r:id="rId18"/>
    </p:embeddedFont>
    <p:embeddedFont>
      <p:font typeface="Inter Italics" charset="1" panose="020B0502030000000004"/>
      <p:regular r:id="rId19"/>
    </p:embeddedFont>
    <p:embeddedFont>
      <p:font typeface="Inter Medium" charset="1" panose="02000503000000020004"/>
      <p:regular r:id="rId20"/>
    </p:embeddedFont>
    <p:embeddedFont>
      <p:font typeface="Inter Bold" charset="1" panose="020B0802030000000004"/>
      <p:regular r:id="rId21"/>
    </p:embeddedFont>
    <p:embeddedFont>
      <p:font typeface="Inter" charset="1" panose="020B05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3620867" y="4270209"/>
            <a:ext cx="11046265" cy="101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0"/>
              </a:lnSpc>
              <a:spcBef>
                <a:spcPct val="0"/>
              </a:spcBef>
            </a:pPr>
            <a:r>
              <a:rPr lang="en-US" b="true" sz="598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ALASH DIGI</a:t>
            </a:r>
            <a:r>
              <a:rPr lang="en-US" b="true" sz="598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TAL NAVIGATION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58875" y="5764707"/>
            <a:ext cx="8370250" cy="4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  <a:spcBef>
                <a:spcPct val="0"/>
              </a:spcBef>
            </a:pPr>
            <a:r>
              <a:rPr lang="en-US" b="true" sz="2641" spc="23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PRESENTATION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3672" y="6256807"/>
            <a:ext cx="15044075" cy="241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6"/>
              </a:lnSpc>
              <a:spcBef>
                <a:spcPct val="0"/>
              </a:spcBef>
            </a:pPr>
            <a:r>
              <a:rPr lang="en-US" sz="256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Открой</a:t>
            </a:r>
            <a:r>
              <a:rPr lang="en-US" sz="256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путь к лучшему образованию.</a:t>
            </a:r>
          </a:p>
          <a:p>
            <a:pPr algn="ctr">
              <a:lnSpc>
                <a:spcPts val="3586"/>
              </a:lnSpc>
              <a:spcBef>
                <a:spcPct val="0"/>
              </a:spcBef>
            </a:pPr>
            <a:r>
              <a:rPr lang="en-US" sz="256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Исследуй университеты Казахстана, сравни рейтинги, программы и </a:t>
            </a:r>
          </a:p>
          <a:p>
            <a:pPr algn="ctr">
              <a:lnSpc>
                <a:spcPts val="3586"/>
              </a:lnSpc>
              <a:spcBef>
                <a:spcPct val="0"/>
              </a:spcBef>
            </a:pPr>
            <a:r>
              <a:rPr lang="en-US" sz="256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условия поступления — всё в одном месте</a:t>
            </a:r>
          </a:p>
          <a:p>
            <a:pPr algn="ctr">
              <a:lnSpc>
                <a:spcPts val="8927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5713062" y="1003866"/>
            <a:ext cx="6861876" cy="35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b="true" sz="205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92 SPECIALIZED LYCEUM NAMED AFTER M.GANDHI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035225" y="2338188"/>
            <a:ext cx="2217550" cy="2046321"/>
          </a:xfrm>
          <a:custGeom>
            <a:avLst/>
            <a:gdLst/>
            <a:ahLst/>
            <a:cxnLst/>
            <a:rect r="r" b="b" t="t" l="l"/>
            <a:pathLst>
              <a:path h="2046321" w="2217550">
                <a:moveTo>
                  <a:pt x="0" y="0"/>
                </a:moveTo>
                <a:lnTo>
                  <a:pt x="2217550" y="0"/>
                </a:lnTo>
                <a:lnTo>
                  <a:pt x="2217550" y="2046321"/>
                </a:lnTo>
                <a:lnTo>
                  <a:pt x="0" y="204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397710" y="2091269"/>
            <a:ext cx="6537362" cy="653736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4647072" y="2130049"/>
            <a:ext cx="6537362" cy="653736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827746" y="9439275"/>
            <a:ext cx="3912189" cy="3912189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2716138" y="-2705305"/>
            <a:ext cx="3912189" cy="3912189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209564" y="8943112"/>
            <a:ext cx="11868871" cy="31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  <a:spcBef>
                <a:spcPct val="0"/>
              </a:spcBef>
            </a:pPr>
            <a:r>
              <a:rPr lang="en-US" b="true" sz="1841" spc="163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HTTPS://GITHUB.COM/KDTNI/ALASH_DIGITAL_NAVIGATION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1075"/>
            <a:ext cx="418031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</a:t>
            </a:r>
            <a:r>
              <a:rPr lang="en-US" b="true" sz="2100">
                <a:solidFill>
                  <a:srgbClr val="5356FF"/>
                </a:solidFill>
                <a:latin typeface="Inter Medium"/>
                <a:ea typeface="Inter Medium"/>
                <a:cs typeface="Inter Medium"/>
                <a:sym typeface="Inter Medium"/>
              </a:rPr>
              <a:t>DIGITAL 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NAVIGATION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22518" y="1676786"/>
            <a:ext cx="1044296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5356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DATAHUB</a:t>
            </a: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ВУЗ-ОВ РК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570675" y="4073139"/>
            <a:ext cx="2475185" cy="2939441"/>
            <a:chOff x="0" y="0"/>
            <a:chExt cx="3300247" cy="391925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64806" y="0"/>
              <a:ext cx="2570635" cy="257063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35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005189" y="957846"/>
              <a:ext cx="1289870" cy="59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7"/>
                </a:lnSpc>
                <a:spcBef>
                  <a:spcPct val="0"/>
                </a:spcBef>
              </a:pPr>
              <a:r>
                <a:rPr lang="en-US" b="true" sz="2676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02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650424"/>
              <a:ext cx="3300247" cy="268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0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837642"/>
              <a:ext cx="3300247" cy="64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2"/>
                </a:lnSpc>
                <a:spcBef>
                  <a:spcPct val="0"/>
                </a:spcBef>
              </a:pPr>
              <a:r>
                <a:rPr lang="en-US" b="true" sz="1408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АКАДЕМИЧЕСКИЕ ПРОГРАММЫ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75014" y="4073139"/>
            <a:ext cx="2475185" cy="2939441"/>
            <a:chOff x="0" y="0"/>
            <a:chExt cx="3300247" cy="391925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364806" y="0"/>
              <a:ext cx="2570635" cy="257063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005189" y="957846"/>
              <a:ext cx="1289870" cy="59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7"/>
                </a:lnSpc>
                <a:spcBef>
                  <a:spcPct val="0"/>
                </a:spcBef>
              </a:pPr>
              <a:r>
                <a:rPr lang="en-US" b="true" sz="2676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03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650424"/>
              <a:ext cx="3300247" cy="268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0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837642"/>
              <a:ext cx="3300247" cy="64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2"/>
                </a:lnSpc>
              </a:pPr>
              <a:r>
                <a:rPr lang="en-US" b="true" sz="1408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3D ТУР</a:t>
              </a:r>
            </a:p>
            <a:p>
              <a:pPr algn="ctr">
                <a:lnSpc>
                  <a:spcPts val="197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79352" y="4073139"/>
            <a:ext cx="2475185" cy="2939441"/>
            <a:chOff x="0" y="0"/>
            <a:chExt cx="3300247" cy="391925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64806" y="0"/>
              <a:ext cx="2570635" cy="257063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356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005189" y="957846"/>
              <a:ext cx="1289870" cy="59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7"/>
                </a:lnSpc>
                <a:spcBef>
                  <a:spcPct val="0"/>
                </a:spcBef>
              </a:pPr>
              <a:r>
                <a:rPr lang="en-US" b="true" sz="2676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04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3650424"/>
              <a:ext cx="3300247" cy="268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0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837642"/>
              <a:ext cx="3300247" cy="64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2"/>
                </a:lnSpc>
              </a:pPr>
              <a:r>
                <a:rPr lang="en-US" b="true" sz="1408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МЕЖДУНАРОДНОЕ</a:t>
              </a:r>
            </a:p>
            <a:p>
              <a:pPr algn="ctr">
                <a:lnSpc>
                  <a:spcPts val="1972"/>
                </a:lnSpc>
                <a:spcBef>
                  <a:spcPct val="0"/>
                </a:spcBef>
              </a:pPr>
              <a:r>
                <a:rPr lang="en-US" b="true" sz="1408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СОТРУДНИЧЕСТВО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83691" y="4073139"/>
            <a:ext cx="2475185" cy="2939441"/>
            <a:chOff x="0" y="0"/>
            <a:chExt cx="3300247" cy="3919255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364806" y="0"/>
              <a:ext cx="2570635" cy="257063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005189" y="957846"/>
              <a:ext cx="1289870" cy="59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7"/>
                </a:lnSpc>
                <a:spcBef>
                  <a:spcPct val="0"/>
                </a:spcBef>
              </a:pPr>
              <a:r>
                <a:rPr lang="en-US" b="true" sz="2676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05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3650424"/>
              <a:ext cx="3300247" cy="268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0"/>
                </a:lnSpc>
                <a:spcBef>
                  <a:spcPct val="0"/>
                </a:spcBef>
              </a:pP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2837642"/>
              <a:ext cx="3300247" cy="64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2"/>
                </a:lnSpc>
              </a:pPr>
              <a:r>
                <a:rPr lang="en-US" b="true" sz="1408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ФУНКЦИЯ СРАВНЕНИЯ</a:t>
              </a:r>
            </a:p>
            <a:p>
              <a:pPr algn="ctr">
                <a:lnSpc>
                  <a:spcPts val="197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837211" y="7363692"/>
            <a:ext cx="10613578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Вся информация — в одном месте.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Сравнивай университеты, смотри проходные баллы, направления подготовки и международные программы без лишнего поиска.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4792251" y="4073139"/>
            <a:ext cx="2475185" cy="2939441"/>
            <a:chOff x="0" y="0"/>
            <a:chExt cx="3300247" cy="3919255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364806" y="0"/>
              <a:ext cx="2570635" cy="2570635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356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005189" y="957846"/>
              <a:ext cx="1289870" cy="59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7"/>
                </a:lnSpc>
                <a:spcBef>
                  <a:spcPct val="0"/>
                </a:spcBef>
              </a:pPr>
              <a:r>
                <a:rPr lang="en-US" b="true" sz="2676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06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3650424"/>
              <a:ext cx="3300247" cy="268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0"/>
                </a:lnSpc>
                <a:spcBef>
                  <a:spcPct val="0"/>
                </a:spcBef>
              </a:pP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2837642"/>
              <a:ext cx="3300247" cy="64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2"/>
                </a:lnSpc>
              </a:pPr>
              <a:r>
                <a:rPr lang="en-US" b="true" sz="1408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ПРИЁМ И ПОСТУПЛЕНИЕ</a:t>
              </a:r>
            </a:p>
            <a:p>
              <a:pPr algn="ctr">
                <a:lnSpc>
                  <a:spcPts val="197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2115" y="4073139"/>
            <a:ext cx="2475185" cy="2939441"/>
            <a:chOff x="0" y="0"/>
            <a:chExt cx="3300247" cy="3919255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364806" y="0"/>
              <a:ext cx="2570635" cy="2570635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1005189" y="957846"/>
              <a:ext cx="1289870" cy="59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7"/>
                </a:lnSpc>
                <a:spcBef>
                  <a:spcPct val="0"/>
                </a:spcBef>
              </a:pPr>
              <a:r>
                <a:rPr lang="en-US" b="true" sz="2676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01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3650424"/>
              <a:ext cx="3300247" cy="268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0"/>
                </a:lnSpc>
                <a:spcBef>
                  <a:spcPct val="0"/>
                </a:spcBef>
              </a:pP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2837642"/>
              <a:ext cx="3300247" cy="64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2"/>
                </a:lnSpc>
              </a:pPr>
              <a:r>
                <a:rPr lang="en-US" b="true" sz="1408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ОБ УНИВЕРСИТЕТЕ</a:t>
              </a:r>
            </a:p>
            <a:p>
              <a:pPr algn="ctr">
                <a:lnSpc>
                  <a:spcPts val="197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837211" y="2702877"/>
            <a:ext cx="1061357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функции нашего продукта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1240" y="2422396"/>
            <a:ext cx="6979991" cy="292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ПРОБЛЕМЫ В ВЫБОРЕ УНИВЕРСИТЕТА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379591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34003" y="2674492"/>
            <a:ext cx="5725297" cy="99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800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Разный уровень образования, неполная информация, сомнения в качестве программ и отсутствие прозрачной статистики - всё это усложняет решение для абитуриента.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34003" y="2228063"/>
            <a:ext cx="675399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ВЫБОР УНИВЕРСИТЕТА - НЕПРОСТАЯ ЗАДАЧА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87112" y="2090996"/>
            <a:ext cx="1512662" cy="15126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63938" y="2635450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34003" y="4050999"/>
            <a:ext cx="60840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СДЕЛАТЬ ПРАВИЛЬНЫЙ ВЫБОР СЛОЖНО.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87112" y="3972420"/>
            <a:ext cx="1512662" cy="15126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63938" y="4522059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34003" y="5998331"/>
            <a:ext cx="60840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ЗАВЫШЕННЫЕ ОЖИДАНИЯ ОТ РЕКЛАМЫ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87112" y="5859029"/>
            <a:ext cx="1512662" cy="151266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963938" y="6408668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34003" y="7764734"/>
            <a:ext cx="608404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СЛОЖНО УЗНАТЬ РЕАЛЬНЫЙ УРОВЕНЬ ПРЕПОДАВАТЕЛЕЙ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87112" y="7745638"/>
            <a:ext cx="1512662" cy="151266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963938" y="8295276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33" id="33"/>
          <p:cNvSpPr txBox="true"/>
          <p:nvPr/>
        </p:nvSpPr>
        <p:spPr>
          <a:xfrm rot="0">
            <a:off x="11534003" y="4492959"/>
            <a:ext cx="5725297" cy="123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800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Каждый университет обещает лучшее образование, но абитуриенты часто теряются: где найти честные рейтинги, реальные отзывы и точные данные? Наша платформа помогает убрать сомнения и увидеть картину объективно.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34003" y="6440291"/>
            <a:ext cx="5725297" cy="123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800" spc="4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Университеты показывают красивый имидж, но скрывают реальные слабые стороны: перегруженность групп, нехватку практики, устаревшее оборудование.</a:t>
            </a:r>
          </a:p>
          <a:p>
            <a:pPr algn="just">
              <a:lnSpc>
                <a:spcPts val="1998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534003" y="8654369"/>
            <a:ext cx="5725297" cy="74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800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Доступа к информации почти нет: опыт преподавателей, их проекты, публикации, награды — всё скрыто.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1240" y="2422396"/>
            <a:ext cx="6979991" cy="292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НАШЕ РЕШЕНИЕ ПРОБЛЕМ ПОТРЕБИТЕЛЯ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379591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34003" y="2674492"/>
            <a:ext cx="5725297" cy="74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800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Мы обновляем рейтинги вузов, анализируем успехи выпускников и даём ясную картину для будущих студентов.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34003" y="2228063"/>
            <a:ext cx="675399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ТОЧНЫЕ ДАННЫЕ И АКТУАЛЬНАЯ СТАТИСТИКА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87112" y="2090996"/>
            <a:ext cx="1512662" cy="15126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63938" y="2635450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34003" y="4050999"/>
            <a:ext cx="60840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ПОМОЖЕМ СДЕЛАТЬ ПРАВИЛЬНЫЙ ВЫБОР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87112" y="3972420"/>
            <a:ext cx="1512662" cy="15126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63938" y="4522059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34003" y="5998331"/>
            <a:ext cx="60840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ОТКРЫВАЙ МИР ЧЕРЕЗ ОБРАЗОВАНИЕ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87112" y="5859029"/>
            <a:ext cx="1512662" cy="151266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963938" y="6408668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34003" y="7985938"/>
            <a:ext cx="60840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МЫ СОЗДАЁМ НАВИГАТОР ДЛЯ БУДУЩЕГО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87112" y="7745638"/>
            <a:ext cx="1512662" cy="151266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963938" y="8295276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33" id="33"/>
          <p:cNvSpPr txBox="true"/>
          <p:nvPr/>
        </p:nvSpPr>
        <p:spPr>
          <a:xfrm rot="0">
            <a:off x="11534003" y="4492959"/>
            <a:ext cx="5725297" cy="99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800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Подберём подходящий университет, расскажем о преимуществах и предоставим консультацию по поступлению.</a:t>
            </a:r>
          </a:p>
          <a:p>
            <a:pPr algn="just">
              <a:lnSpc>
                <a:spcPts val="1998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1534003" y="6440291"/>
            <a:ext cx="5725297" cy="74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800" spc="4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Узнай о программах обмена, зарубежных партнёрствах и возможностях обучения в международных университетах.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34003" y="8427898"/>
            <a:ext cx="5725297" cy="49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800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Наша цель — сделать поиск университета простым, понятным и честным для каждого абитуриента.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1075"/>
            <a:ext cx="379591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028700" y="2618444"/>
            <a:ext cx="172593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КАЗАХСТАН ЕЖЕГОДНО ВЫПУСКАЕТ БОЛЕЕ 300 000 АБИТУРИЕНТОВ, КОТОРЫЕ СТАЛКИВАЮТСЯ С НЕДОСТАТКОМ ДОСТОВЕРНОЙ ИНФОРМАЦИИ ПРИ ВЫБОРЕ УНИВЕРСИТЕТА.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751070"/>
            <a:ext cx="1553397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ИЗ НИХ ОКОЛО 50–60% АКТИВНО ИЩУТ СТАТИСТИКУ, РЕЙТИНГИ, КОНКУРСЫ И АНАЛИЗ СПЕЦИАЛЬНОСТЕЙ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684757"/>
            <a:ext cx="162306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В ПЕРВЫЕ 1–2 ГОДА ПРОДУКТ МОЖЕТ ЗАНЯТЬ 5–10% ЭТОГО СЕГМЕНТА ЗА СЧЁТ УДОБНОГО ФУНКЦИОНАЛА, АНАЛИТИКИ И РЕКОМЕНДАЦИЙ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6281" y="6431280"/>
            <a:ext cx="3140750" cy="111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b="true" sz="6499">
                <a:solidFill>
                  <a:srgbClr val="5356FF"/>
                </a:solidFill>
                <a:latin typeface="Inter Bold"/>
                <a:ea typeface="Inter Bold"/>
                <a:cs typeface="Inter Bold"/>
                <a:sym typeface="Inter Bold"/>
              </a:rPr>
              <a:t>РЫНОК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66051" y="6440805"/>
            <a:ext cx="6537362" cy="65373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3268681" y="-5508662"/>
            <a:ext cx="6537362" cy="653736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58326" y="8491201"/>
            <a:ext cx="6537362" cy="653736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58350" y="-5508662"/>
            <a:ext cx="6537362" cy="653736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31317"/>
            <a:ext cx="7768390" cy="4726983"/>
            <a:chOff x="0" y="0"/>
            <a:chExt cx="937097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97" cy="570214"/>
            </a:xfrm>
            <a:custGeom>
              <a:avLst/>
              <a:gdLst/>
              <a:ahLst/>
              <a:cxnLst/>
              <a:rect r="r" b="b" t="t" l="l"/>
              <a:pathLst>
                <a:path h="570214" w="937097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547292"/>
                  </a:lnTo>
                  <a:cubicBezTo>
                    <a:pt x="937097" y="559951"/>
                    <a:pt x="926835" y="570214"/>
                    <a:pt x="914176" y="570214"/>
                  </a:cubicBezTo>
                  <a:lnTo>
                    <a:pt x="22922" y="570214"/>
                  </a:lnTo>
                  <a:cubicBezTo>
                    <a:pt x="10262" y="570214"/>
                    <a:pt x="0" y="559951"/>
                    <a:pt x="0" y="547292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854" r="0" b="-485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31319" y="7745638"/>
            <a:ext cx="1512662" cy="151266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31319" y="5577651"/>
            <a:ext cx="1512662" cy="15126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991926"/>
            <a:ext cx="8115300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ПОТЕНЦИАЛЬНЫЕ КОНКУРЕНТЫ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87650" y="2519929"/>
            <a:ext cx="72716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веб-сайты и платформы, которые уже существуют и могут конкурировать с нашим сервисом: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81075"/>
            <a:ext cx="40576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178211" y="7726680"/>
            <a:ext cx="6081089" cy="1529715"/>
            <a:chOff x="0" y="0"/>
            <a:chExt cx="8108119" cy="20396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386080"/>
              <a:ext cx="8108119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сайт с «University Compare Tool» для зарубежных вузов, где можно сравнивать несколько университетов по разным параметрам: стоимость, трудоустройство, вакансии и пр.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529080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GYANDHAN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78211" y="5577651"/>
            <a:ext cx="6081089" cy="1198337"/>
            <a:chOff x="0" y="0"/>
            <a:chExt cx="8108119" cy="15977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782443"/>
              <a:ext cx="810811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площадка для подбора университетов: сравнение вузов, стипендий, анализ поступления и т. д.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47625"/>
              <a:ext cx="529080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UNICOMPARE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08145" y="6127289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08145" y="8295276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9490910" y="2087176"/>
            <a:ext cx="7768390" cy="7171124"/>
            <a:chOff x="0" y="0"/>
            <a:chExt cx="937097" cy="8650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7097" cy="865049"/>
            </a:xfrm>
            <a:custGeom>
              <a:avLst/>
              <a:gdLst/>
              <a:ahLst/>
              <a:cxnLst/>
              <a:rect r="r" b="b" t="t" l="l"/>
              <a:pathLst>
                <a:path h="865049" w="937097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842128"/>
                  </a:lnTo>
                  <a:cubicBezTo>
                    <a:pt x="937097" y="854787"/>
                    <a:pt x="926835" y="865049"/>
                    <a:pt x="914176" y="865049"/>
                  </a:cubicBezTo>
                  <a:lnTo>
                    <a:pt x="22922" y="865049"/>
                  </a:lnTo>
                  <a:cubicBezTo>
                    <a:pt x="10262" y="865049"/>
                    <a:pt x="0" y="854787"/>
                    <a:pt x="0" y="842128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l="-47426" t="0" r="-4742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377020"/>
            <a:ext cx="7782254" cy="391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ПАРТНЁРСКИЕ ПРОГРАММЫ С УНИВЕРСИТЕТАМИ (B2B)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8247" y="5572070"/>
            <a:ext cx="7303160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Университеты платят за: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Расширенное продвижение на платформе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Размещение информации об образовательных программах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Рекламу грантов и стипендий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Продвижение мероприятий (Open Day, грантовые конкурсы)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Доступ к аналитическим отчётам о спросе абитуриентов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81075"/>
            <a:ext cx="582044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136200"/>
            <a:ext cx="431792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КОМИССИЯ ЗА КОНСУЛЬТАЦИИ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52586"/>
            <a:ext cx="3556635" cy="76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МАРКЕТИНГ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582044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1028700" y="5688515"/>
            <a:ext cx="631174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ОСНОВНЫЕ МАРКЕТИНГОВЫЕ КАНАЛЫ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820946"/>
            <a:ext cx="9350454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TIKTOK — КОРОТКИЕ РОЛИКИ ПРО ВУЗЫ, ЛАЙФХАКИ ПО ПОСТУПЛЕНИЮ</a:t>
            </a:r>
          </a:p>
          <a:p>
            <a:pPr algn="just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INSTAGRAM — КАРУСЕЛИ, ИНФОГРАФИКА, СТОРИС, ПРЯМЫЕ ЭФИРЫ</a:t>
            </a:r>
          </a:p>
          <a:p>
            <a:pPr algn="just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YOUTUBE — ОБЗОРЫ ВУЗОВ, ТУРЫ ПО КАМПУСАМ</a:t>
            </a:r>
          </a:p>
          <a:p>
            <a:pPr algn="just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ВКОНТАКТЕ — ДЛЯ ШКОЛЬНИКОВ 9–11 КЛАССОВ</a:t>
            </a:r>
          </a:p>
          <a:p>
            <a:pPr algn="just">
              <a:lnSpc>
                <a:spcPts val="266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3394792"/>
            <a:ext cx="631174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ОСНОВНЫЕ МАРКЕТИНГОВЫЕ КАНАЛЫ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110790"/>
            <a:ext cx="10974586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С</a:t>
            </a: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ТАТЬИ: “КАК ВЫБРАТЬ УНИВЕРСИТЕТ?”, “ТОП-10 СПЕЦИАЛЬНОСТЕЙ 2025”</a:t>
            </a:r>
          </a:p>
          <a:p>
            <a:pPr algn="just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ПОИСКОВАЯ ОПТИМИЗАЦИЯ: “РЕЙТИНГИ ВУЗОВ КАЗАХСТАНА”, “ПРОХОДНЫЕ БАЛЛЫ”</a:t>
            </a:r>
          </a:p>
          <a:p>
            <a:pPr algn="just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БЛОГ + FAQ</a:t>
            </a:r>
          </a:p>
          <a:p>
            <a:pPr algn="just">
              <a:lnSpc>
                <a:spcPts val="266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5866051" y="6440805"/>
            <a:ext cx="6537362" cy="653736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3268681" y="-5508662"/>
            <a:ext cx="6537362" cy="653736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58326" y="8491201"/>
            <a:ext cx="6537362" cy="653736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58350" y="-5508662"/>
            <a:ext cx="6537362" cy="653736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23729" y="2087176"/>
            <a:ext cx="8035571" cy="4726983"/>
            <a:chOff x="0" y="0"/>
            <a:chExt cx="969327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9327" cy="570214"/>
            </a:xfrm>
            <a:custGeom>
              <a:avLst/>
              <a:gdLst/>
              <a:ahLst/>
              <a:cxnLst/>
              <a:rect r="r" b="b" t="t" l="l"/>
              <a:pathLst>
                <a:path h="570214" w="969327">
                  <a:moveTo>
                    <a:pt x="22159" y="0"/>
                  </a:moveTo>
                  <a:lnTo>
                    <a:pt x="947168" y="0"/>
                  </a:lnTo>
                  <a:cubicBezTo>
                    <a:pt x="959406" y="0"/>
                    <a:pt x="969327" y="9921"/>
                    <a:pt x="969327" y="22159"/>
                  </a:cubicBezTo>
                  <a:lnTo>
                    <a:pt x="969327" y="548054"/>
                  </a:lnTo>
                  <a:cubicBezTo>
                    <a:pt x="969327" y="560293"/>
                    <a:pt x="959406" y="570214"/>
                    <a:pt x="947168" y="570214"/>
                  </a:cubicBezTo>
                  <a:lnTo>
                    <a:pt x="22159" y="570214"/>
                  </a:lnTo>
                  <a:cubicBezTo>
                    <a:pt x="9921" y="570214"/>
                    <a:pt x="0" y="560293"/>
                    <a:pt x="0" y="548054"/>
                  </a:cubicBezTo>
                  <a:lnTo>
                    <a:pt x="0" y="22159"/>
                  </a:lnTo>
                  <a:cubicBezTo>
                    <a:pt x="0" y="9921"/>
                    <a:pt x="9921" y="0"/>
                    <a:pt x="22159" y="0"/>
                  </a:cubicBezTo>
                  <a:close/>
                </a:path>
              </a:pathLst>
            </a:custGeom>
            <a:blipFill>
              <a:blip r:embed="rId2"/>
              <a:stretch>
                <a:fillRect l="-8387" t="0" r="-83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087176"/>
            <a:ext cx="8035571" cy="4726983"/>
            <a:chOff x="0" y="0"/>
            <a:chExt cx="969327" cy="5702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9327" cy="570214"/>
            </a:xfrm>
            <a:custGeom>
              <a:avLst/>
              <a:gdLst/>
              <a:ahLst/>
              <a:cxnLst/>
              <a:rect r="r" b="b" t="t" l="l"/>
              <a:pathLst>
                <a:path h="570214" w="969327">
                  <a:moveTo>
                    <a:pt x="22159" y="0"/>
                  </a:moveTo>
                  <a:lnTo>
                    <a:pt x="947168" y="0"/>
                  </a:lnTo>
                  <a:cubicBezTo>
                    <a:pt x="959406" y="0"/>
                    <a:pt x="969327" y="9921"/>
                    <a:pt x="969327" y="22159"/>
                  </a:cubicBezTo>
                  <a:lnTo>
                    <a:pt x="969327" y="548054"/>
                  </a:lnTo>
                  <a:cubicBezTo>
                    <a:pt x="969327" y="560293"/>
                    <a:pt x="959406" y="570214"/>
                    <a:pt x="947168" y="570214"/>
                  </a:cubicBezTo>
                  <a:lnTo>
                    <a:pt x="22159" y="570214"/>
                  </a:lnTo>
                  <a:cubicBezTo>
                    <a:pt x="9921" y="570214"/>
                    <a:pt x="0" y="560293"/>
                    <a:pt x="0" y="548054"/>
                  </a:cubicBezTo>
                  <a:lnTo>
                    <a:pt x="0" y="22159"/>
                  </a:lnTo>
                  <a:cubicBezTo>
                    <a:pt x="0" y="9921"/>
                    <a:pt x="9921" y="0"/>
                    <a:pt x="2215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794" r="0" b="-1179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39970" y="8314690"/>
            <a:ext cx="667666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КОМАНДА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80677" y="7694930"/>
            <a:ext cx="876735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Команда состоит из разработчика - Батырхан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Дизайнер и тестировщик - Диас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81075"/>
            <a:ext cx="582044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09936"/>
            <a:ext cx="8734070" cy="226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2"/>
              </a:lnSpc>
            </a:pPr>
            <a:r>
              <a:rPr lang="en-US" sz="5600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КАК РАБОТАЕТ СИСТЕМА СРАВНЕНИЯ УНИВЕРСИТЕТОВ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79309" y="2362766"/>
            <a:ext cx="6979991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Наша платформа автоматически анализирует выбранные университеты и формирует подробную сравнительную таблицу. Механизм сравнения построен на динамическом обновлении DOM без перезагрузки страницы.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81075"/>
            <a:ext cx="407528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65075" y="5120819"/>
            <a:ext cx="572529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После выбора университетов скрипт получает их ID и формирует массив selectedUnis.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5075" y="4668514"/>
            <a:ext cx="572529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СБОР ВЫБРАННЫХ УНИВЕРСИТЕТОВ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4472663"/>
            <a:ext cx="1512662" cy="151266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05526" y="5022301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65075" y="6600144"/>
            <a:ext cx="572529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spc="-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Для каждого критерия создаётся новая строка таблицы &lt;tr&gt;, а первая ячейка содержит название критерия и значок.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65075" y="6147839"/>
            <a:ext cx="572529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ГЕНЕРАЦИЯ СТРОК ТАБЛИЦЫ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6109150"/>
            <a:ext cx="1512662" cy="151266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05526" y="6658789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65075" y="8441419"/>
            <a:ext cx="5725297" cy="103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3"/>
              </a:lnSpc>
            </a:pPr>
            <a:r>
              <a:rPr lang="en-US" sz="1800" spc="-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Для каждого выбранного университета добавляется ячейка с его данными. Если информации нет - выводится пометка “Нет данных”.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65075" y="7941489"/>
            <a:ext cx="572529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ВСТАВКА ДАННЫХ ПО УНИВЕРСИТЕТАМ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7745638"/>
            <a:ext cx="1512662" cy="151266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05526" y="8295276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26846" y="5120819"/>
            <a:ext cx="572529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Если выбрано меньше трёх университетов, система автоматически добавляет служебные ячейки “Не выбран”.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26846" y="4668514"/>
            <a:ext cx="686115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АВТОМАТИЧЕСКОЕ ЗАПОЛНЕНИЕ ПУСТЫХ ЯЧЕЕК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90472" y="4472663"/>
            <a:ext cx="1512662" cy="151266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867298" y="5022301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26846" y="6757306"/>
            <a:ext cx="572529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Новые строки добавляются в DOM с помощью appendChild, и таблица обновляется мгновенно.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26846" y="6305001"/>
            <a:ext cx="572529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ОБНОВЛЕНИЕ ТАБЛИЦЫ НА СТРАНИЦЕ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490472" y="6109150"/>
            <a:ext cx="1512662" cy="151266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867298" y="6658789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5866051" y="6440805"/>
            <a:ext cx="6537362" cy="653736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3268681" y="-5508662"/>
            <a:ext cx="6537362" cy="65373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58326" y="8491201"/>
            <a:ext cx="6537362" cy="65373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58350" y="-5508662"/>
            <a:ext cx="6537362" cy="653736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795688" y="3446296"/>
            <a:ext cx="7295901" cy="4195143"/>
          </a:xfrm>
          <a:custGeom>
            <a:avLst/>
            <a:gdLst/>
            <a:ahLst/>
            <a:cxnLst/>
            <a:rect r="r" b="b" t="t" l="l"/>
            <a:pathLst>
              <a:path h="4195143" w="7295901">
                <a:moveTo>
                  <a:pt x="0" y="0"/>
                </a:moveTo>
                <a:lnTo>
                  <a:pt x="7295901" y="0"/>
                </a:lnTo>
                <a:lnTo>
                  <a:pt x="7295901" y="4195143"/>
                </a:lnTo>
                <a:lnTo>
                  <a:pt x="0" y="4195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2086124"/>
            <a:ext cx="2339578" cy="76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Д</a:t>
            </a:r>
            <a:r>
              <a:rPr lang="en-US" b="true" sz="4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ЕНЬГИ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981075"/>
            <a:ext cx="582044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ALASH DIGITAL NAVIGATION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5688515"/>
            <a:ext cx="469475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КУДА П</a:t>
            </a:r>
            <a:r>
              <a:rPr lang="en-US" b="true" sz="2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ОЙДУТ ИНВЕСТИЦИИ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820946"/>
            <a:ext cx="5353764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ЗАПРАШИВАЕМАЯ СУММА: 200 000 ₸</a:t>
            </a:r>
          </a:p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(запуск проекта на 12 месяцев)</a:t>
            </a:r>
          </a:p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Ставим реальную цифру для стартапа</a:t>
            </a:r>
          </a:p>
          <a:p>
            <a:pPr algn="just">
              <a:lnSpc>
                <a:spcPts val="266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3398671"/>
            <a:ext cx="619267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НЕОБХ</a:t>
            </a:r>
            <a:r>
              <a:rPr lang="en-US" b="true" sz="24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ОДИМАЯ СУММА ИНВЕСТИЦИЙ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110790"/>
            <a:ext cx="5880616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РАЗРАБОТКА ПРОДУКТА - 300 000 ₸ 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Frontend + backend разработка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База данных, API, архитектура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Подписки на инструменты разработки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UI/UX дизайн</a:t>
            </a:r>
          </a:p>
          <a:p>
            <a:pPr algn="just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3620867" y="4270209"/>
            <a:ext cx="11046265" cy="101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0"/>
              </a:lnSpc>
              <a:spcBef>
                <a:spcPct val="0"/>
              </a:spcBef>
            </a:pPr>
            <a:r>
              <a:rPr lang="en-US" b="true" sz="598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ALASH DIGI</a:t>
            </a:r>
            <a:r>
              <a:rPr lang="en-US" b="true" sz="598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TAL NAVIGATION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58875" y="5764707"/>
            <a:ext cx="8370250" cy="4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  <a:spcBef>
                <a:spcPct val="0"/>
              </a:spcBef>
            </a:pPr>
            <a:r>
              <a:rPr lang="en-US" b="true" sz="2641" spc="23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END OF PRESENTATION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3672" y="6256807"/>
            <a:ext cx="15044075" cy="132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6"/>
              </a:lnSpc>
              <a:spcBef>
                <a:spcPct val="0"/>
              </a:spcBef>
            </a:pPr>
            <a:r>
              <a:rPr lang="en-US" sz="256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Открой</a:t>
            </a:r>
            <a:r>
              <a:rPr lang="en-US" sz="256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путь к лучшему образованию.</a:t>
            </a:r>
          </a:p>
          <a:p>
            <a:pPr algn="ctr">
              <a:lnSpc>
                <a:spcPts val="3586"/>
              </a:lnSpc>
              <a:spcBef>
                <a:spcPct val="0"/>
              </a:spcBef>
            </a:pPr>
            <a:r>
              <a:rPr lang="en-US" sz="256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+7 771 982 3298 example@mail.ru</a:t>
            </a:r>
          </a:p>
          <a:p>
            <a:pPr algn="ctr">
              <a:lnSpc>
                <a:spcPts val="3586"/>
              </a:lnSpc>
              <a:spcBef>
                <a:spcPct val="0"/>
              </a:spcBef>
            </a:pPr>
            <a:r>
              <a:rPr lang="en-US" sz="256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office - 92 Specialized Lyceum named after M.Gandhi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13062" y="1003866"/>
            <a:ext cx="6861876" cy="35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b="true" sz="205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92 SPECIALIZED LYCEUM NAMED AFTER M.GANDHI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035225" y="2338188"/>
            <a:ext cx="2217550" cy="2046321"/>
          </a:xfrm>
          <a:custGeom>
            <a:avLst/>
            <a:gdLst/>
            <a:ahLst/>
            <a:cxnLst/>
            <a:rect r="r" b="b" t="t" l="l"/>
            <a:pathLst>
              <a:path h="2046321" w="2217550">
                <a:moveTo>
                  <a:pt x="0" y="0"/>
                </a:moveTo>
                <a:lnTo>
                  <a:pt x="2217550" y="0"/>
                </a:lnTo>
                <a:lnTo>
                  <a:pt x="2217550" y="2046321"/>
                </a:lnTo>
                <a:lnTo>
                  <a:pt x="0" y="204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397710" y="2091269"/>
            <a:ext cx="6537362" cy="653736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4647072" y="2130049"/>
            <a:ext cx="6537362" cy="653736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827746" y="9439275"/>
            <a:ext cx="3912189" cy="3912189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2716138" y="-2705305"/>
            <a:ext cx="3912189" cy="3912189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56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209564" y="8943112"/>
            <a:ext cx="11868871" cy="31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  <a:spcBef>
                <a:spcPct val="0"/>
              </a:spcBef>
            </a:pPr>
            <a:r>
              <a:rPr lang="en-US" b="true" sz="1841" spc="163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HTTPS://GITHUB.COM/KDTNI/ALASH_DIGITAL_NAVIGATION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DAG6rosIRvc</dc:identifier>
  <dcterms:modified xsi:type="dcterms:W3CDTF">2011-08-01T06:04:30Z</dcterms:modified>
  <cp:revision>1</cp:revision>
  <dc:title>ALASH DIGITAL NAVIGATION</dc:title>
</cp:coreProperties>
</file>